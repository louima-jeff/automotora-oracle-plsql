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4d7f2e06f40ed" /><Relationship Type="http://schemas.openxmlformats.org/officeDocument/2006/relationships/extended-properties" Target="/docProps/app.xml" Id="R1ee8226fb75643e0" /><Relationship Type="http://schemas.openxmlformats.org/officeDocument/2006/relationships/officeDocument" Target="/ppt/presentation.xml" Id="R8cbb1366ae1f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ccf6177a446dc"/>
  </p:sldMasterIdLst>
  <p:notesMasterIdLst>
    <p:notesMasterId xmlns:r="http://schemas.openxmlformats.org/officeDocument/2006/relationships" r:id="R6d1c6522a299419a"/>
  </p:notesMasterIdLst>
  <p:sldIdLst>
    <p:sldId xmlns:r="http://schemas.openxmlformats.org/officeDocument/2006/relationships" id="256" r:id="R2e0e70052e3b4af8"/>
    <p:sldId xmlns:r="http://schemas.openxmlformats.org/officeDocument/2006/relationships" id="257" r:id="R5cf604638ad24757"/>
    <p:sldId xmlns:r="http://schemas.openxmlformats.org/officeDocument/2006/relationships" id="258" r:id="R1be4f3b6f6ca433a"/>
    <p:sldId xmlns:r="http://schemas.openxmlformats.org/officeDocument/2006/relationships" id="259" r:id="R4bf8197c00e54eea"/>
    <p:sldId xmlns:r="http://schemas.openxmlformats.org/officeDocument/2006/relationships" id="260" r:id="R04a670ded72d4532"/>
    <p:sldId xmlns:r="http://schemas.openxmlformats.org/officeDocument/2006/relationships" id="273" r:id="Rf1ad0da7ab9d40df"/>
    <p:sldId xmlns:r="http://schemas.openxmlformats.org/officeDocument/2006/relationships" id="274" r:id="R2eed83c3e9044f84"/>
    <p:sldId xmlns:r="http://schemas.openxmlformats.org/officeDocument/2006/relationships" id="275" r:id="Ra82f90f3c3b64770"/>
    <p:sldId xmlns:r="http://schemas.openxmlformats.org/officeDocument/2006/relationships" id="276" r:id="R85e32a14268547aa"/>
    <p:sldId xmlns:r="http://schemas.openxmlformats.org/officeDocument/2006/relationships" id="277" r:id="R21ce2c1987cc4a3f"/>
    <p:sldId xmlns:r="http://schemas.openxmlformats.org/officeDocument/2006/relationships" id="278" r:id="R1fbff804a25c49a7"/>
    <p:sldId xmlns:r="http://schemas.openxmlformats.org/officeDocument/2006/relationships" id="261" r:id="R0c8045e10b8c49ae"/>
    <p:sldId xmlns:r="http://schemas.openxmlformats.org/officeDocument/2006/relationships" id="262" r:id="Ra5a93ab3b3f649b9"/>
    <p:sldId xmlns:r="http://schemas.openxmlformats.org/officeDocument/2006/relationships" id="263" r:id="R97e2ad1a39534fc9"/>
    <p:sldId xmlns:r="http://schemas.openxmlformats.org/officeDocument/2006/relationships" id="264" r:id="Rdc96b877e9834931"/>
    <p:sldId xmlns:r="http://schemas.openxmlformats.org/officeDocument/2006/relationships" id="265" r:id="Rdb39d7115be54cf8"/>
    <p:sldId xmlns:r="http://schemas.openxmlformats.org/officeDocument/2006/relationships" id="266" r:id="R422005abb82f4ed5"/>
    <p:sldId xmlns:r="http://schemas.openxmlformats.org/officeDocument/2006/relationships" id="267" r:id="R1ddb1fcd46f54878"/>
    <p:sldId xmlns:r="http://schemas.openxmlformats.org/officeDocument/2006/relationships" id="268" r:id="Rba213bdd630041f6"/>
    <p:sldId xmlns:r="http://schemas.openxmlformats.org/officeDocument/2006/relationships" id="269" r:id="Recb2d4e1f8fe4123"/>
    <p:sldId xmlns:r="http://schemas.openxmlformats.org/officeDocument/2006/relationships" id="270" r:id="R2bbe234022104ec2"/>
    <p:sldId xmlns:r="http://schemas.openxmlformats.org/officeDocument/2006/relationships" id="271" r:id="R503cdb0c5b0c4568"/>
    <p:sldId xmlns:r="http://schemas.openxmlformats.org/officeDocument/2006/relationships" id="272" r:id="R794653c0944f43c6"/>
  </p:sldIdLst>
  <p:sldSz cx="12188952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d2f309f8194e11" /><Relationship Type="http://schemas.openxmlformats.org/officeDocument/2006/relationships/slideMaster" Target="/ppt/slideMasters/slideMaster1.xml" Id="R46cccf6177a446dc" /><Relationship Type="http://schemas.openxmlformats.org/officeDocument/2006/relationships/notesMaster" Target="/ppt/notesMasters/notesMaster1.xml" Id="R6d1c6522a299419a" /><Relationship Type="http://schemas.openxmlformats.org/officeDocument/2006/relationships/presProps" Target="/ppt/presProps.xml" Id="R97a1247cf66a4a7e" /><Relationship Type="http://schemas.openxmlformats.org/officeDocument/2006/relationships/viewProps" Target="/ppt/viewProps.xml" Id="R891eb685dbdc4c27" /><Relationship Type="http://schemas.openxmlformats.org/officeDocument/2006/relationships/tableStyles" Target="/ppt/tableStyles.xml" Id="R00ef509267754e7f" /><Relationship Type="http://schemas.openxmlformats.org/officeDocument/2006/relationships/slide" Target="/ppt/slides/slide1.xml" Id="R2e0e70052e3b4af8" /><Relationship Type="http://schemas.openxmlformats.org/officeDocument/2006/relationships/slide" Target="/ppt/slides/slide2.xml" Id="R5cf604638ad24757" /><Relationship Type="http://schemas.openxmlformats.org/officeDocument/2006/relationships/slide" Target="/ppt/slides/slide3.xml" Id="R1be4f3b6f6ca433a" /><Relationship Type="http://schemas.openxmlformats.org/officeDocument/2006/relationships/slide" Target="/ppt/slides/slide4.xml" Id="R4bf8197c00e54eea" /><Relationship Type="http://schemas.openxmlformats.org/officeDocument/2006/relationships/slide" Target="/ppt/slides/slide5.xml" Id="R04a670ded72d4532" /><Relationship Type="http://schemas.openxmlformats.org/officeDocument/2006/relationships/slide" Target="/ppt/slides/slide6.xml" Id="R0c8045e10b8c49ae" /><Relationship Type="http://schemas.openxmlformats.org/officeDocument/2006/relationships/slide" Target="/ppt/slides/slide7.xml" Id="Ra5a93ab3b3f649b9" /><Relationship Type="http://schemas.openxmlformats.org/officeDocument/2006/relationships/slide" Target="/ppt/slides/slide8.xml" Id="R97e2ad1a39534fc9" /><Relationship Type="http://schemas.openxmlformats.org/officeDocument/2006/relationships/slide" Target="/ppt/slides/slide9.xml" Id="Rdc96b877e9834931" /><Relationship Type="http://schemas.openxmlformats.org/officeDocument/2006/relationships/slide" Target="/ppt/slides/slide10.xml" Id="Rdb39d7115be54cf8" /><Relationship Type="http://schemas.openxmlformats.org/officeDocument/2006/relationships/slide" Target="/ppt/slides/slide11.xml" Id="R422005abb82f4ed5" /><Relationship Type="http://schemas.openxmlformats.org/officeDocument/2006/relationships/slide" Target="/ppt/slides/slide12.xml" Id="R1ddb1fcd46f54878" /><Relationship Type="http://schemas.openxmlformats.org/officeDocument/2006/relationships/slide" Target="/ppt/slides/slide13.xml" Id="Rba213bdd630041f6" /><Relationship Type="http://schemas.openxmlformats.org/officeDocument/2006/relationships/slide" Target="/ppt/slides/slide14.xml" Id="Recb2d4e1f8fe4123" /><Relationship Type="http://schemas.openxmlformats.org/officeDocument/2006/relationships/slide" Target="/ppt/slides/slide15.xml" Id="R2bbe234022104ec2" /><Relationship Type="http://schemas.openxmlformats.org/officeDocument/2006/relationships/slide" Target="/ppt/slides/slide16.xml" Id="R503cdb0c5b0c4568" /><Relationship Type="http://schemas.openxmlformats.org/officeDocument/2006/relationships/slide" Target="/ppt/slides/slide17.xml" Id="R794653c0944f43c6" /><Relationship Type="http://schemas.openxmlformats.org/officeDocument/2006/relationships/slide" Target="/ppt/slides/slide18.xml" Id="Rf1ad0da7ab9d40df" /><Relationship Type="http://schemas.openxmlformats.org/officeDocument/2006/relationships/slide" Target="/ppt/slides/slide19.xml" Id="R2eed83c3e9044f84" /><Relationship Type="http://schemas.openxmlformats.org/officeDocument/2006/relationships/slide" Target="/ppt/slides/slide20.xml" Id="Ra82f90f3c3b64770" /><Relationship Type="http://schemas.openxmlformats.org/officeDocument/2006/relationships/slide" Target="/ppt/slides/slide21.xml" Id="R85e32a14268547aa" /><Relationship Type="http://schemas.openxmlformats.org/officeDocument/2006/relationships/slide" Target="/ppt/slides/slide22.xml" Id="R21ce2c1987cc4a3f" /><Relationship Type="http://schemas.openxmlformats.org/officeDocument/2006/relationships/slide" Target="/ppt/slides/slide23.xml" Id="R1fbff804a25c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7394845a1b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3363cb75b4fd4" /><Relationship Type="http://schemas.openxmlformats.org/officeDocument/2006/relationships/notesMaster" Target="/ppt/notesMasters/notesMaster1.xml" Id="Ra3c9b1d4aeec49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02dce54224599" /><Relationship Type="http://schemas.openxmlformats.org/officeDocument/2006/relationships/notesMaster" Target="/ppt/notesMasters/notesMaster1.xml" Id="Rcfb6d0ae4622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15bf1998543e1" /><Relationship Type="http://schemas.openxmlformats.org/officeDocument/2006/relationships/notesMaster" Target="/ppt/notesMasters/notesMaster1.xml" Id="R497ca4478f2a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06d64612d84b07" /><Relationship Type="http://schemas.openxmlformats.org/officeDocument/2006/relationships/notesMaster" Target="/ppt/notesMasters/notesMaster1.xml" Id="Re888a36ed9dc40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f132f49364da8" /><Relationship Type="http://schemas.openxmlformats.org/officeDocument/2006/relationships/notesMaster" Target="/ppt/notesMasters/notesMaster1.xml" Id="R77452d04b64b4e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dbd5977954c60" /><Relationship Type="http://schemas.openxmlformats.org/officeDocument/2006/relationships/notesMaster" Target="/ppt/notesMasters/notesMaster1.xml" Id="R68c735aa50bd4b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628601f834da2" /><Relationship Type="http://schemas.openxmlformats.org/officeDocument/2006/relationships/notesMaster" Target="/ppt/notesMasters/notesMaster1.xml" Id="Rbe93085f1e7a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9d630e0e3f497f" /><Relationship Type="http://schemas.openxmlformats.org/officeDocument/2006/relationships/notesMaster" Target="/ppt/notesMasters/notesMaster1.xml" Id="R3ede92f84d904a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40f77687ff43bc" /><Relationship Type="http://schemas.openxmlformats.org/officeDocument/2006/relationships/notesMaster" Target="/ppt/notesMasters/notesMaster1.xml" Id="Rebb256fd477f4d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91a5d2ae2048d2" /><Relationship Type="http://schemas.openxmlformats.org/officeDocument/2006/relationships/notesMaster" Target="/ppt/notesMasters/notesMaster1.xml" Id="R74024da47afc48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f07639bc8646f5" /><Relationship Type="http://schemas.openxmlformats.org/officeDocument/2006/relationships/notesMaster" Target="/ppt/notesMasters/notesMaster1.xml" Id="R02bb5677545244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20059f4b4b4e1e" /><Relationship Type="http://schemas.openxmlformats.org/officeDocument/2006/relationships/notesMaster" Target="/ppt/notesMasters/notesMaster1.xml" Id="Rf57226e346a84a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ebf74a91194454" /><Relationship Type="http://schemas.openxmlformats.org/officeDocument/2006/relationships/notesMaster" Target="/ppt/notesMasters/notesMaster1.xml" Id="Ra9b49b71b05249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2697264956488b" /><Relationship Type="http://schemas.openxmlformats.org/officeDocument/2006/relationships/notesMaster" Target="/ppt/notesMasters/notesMaster1.xml" Id="Rdcca97428b5449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287c3d0e704ddb" /><Relationship Type="http://schemas.openxmlformats.org/officeDocument/2006/relationships/notesMaster" Target="/ppt/notesMasters/notesMaster1.xml" Id="R50831f228a8c43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305eba02774c25" /><Relationship Type="http://schemas.openxmlformats.org/officeDocument/2006/relationships/notesMaster" Target="/ppt/notesMasters/notesMaster1.xml" Id="R8c25372e16084a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1e7637e4a2446e" /><Relationship Type="http://schemas.openxmlformats.org/officeDocument/2006/relationships/notesMaster" Target="/ppt/notesMasters/notesMaster1.xml" Id="R795907c905594a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9d7b54db7a4a20" /><Relationship Type="http://schemas.openxmlformats.org/officeDocument/2006/relationships/notesMaster" Target="/ppt/notesMasters/notesMaster1.xml" Id="R742f11d1079148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6a83aa272e4b48" /><Relationship Type="http://schemas.openxmlformats.org/officeDocument/2006/relationships/notesMaster" Target="/ppt/notesMasters/notesMaster1.xml" Id="R218ab30c4adf40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185a941c1d4061" /><Relationship Type="http://schemas.openxmlformats.org/officeDocument/2006/relationships/notesMaster" Target="/ppt/notesMasters/notesMaster1.xml" Id="R43158f272b434b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6f8b9e1bea4efd" /><Relationship Type="http://schemas.openxmlformats.org/officeDocument/2006/relationships/notesMaster" Target="/ppt/notesMasters/notesMaster1.xml" Id="Rf311a31052514e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cc2eab3103c4745" /><Relationship Type="http://schemas.openxmlformats.org/officeDocument/2006/relationships/notesMaster" Target="/ppt/notesMasters/notesMaster1.xml" Id="Rb0c4077b6e5f4a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535011051e49d5" /><Relationship Type="http://schemas.openxmlformats.org/officeDocument/2006/relationships/notesMaster" Target="/ppt/notesMasters/notesMaster1.xml" Id="R7554cc6acced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Geymy. Tiempo sugerido: 45 segundos. El cliente elige un vehículo. Si necesita apartarlo, reservar_vehiculo registra una reserva. La reserva es opcional. registrar_venta valida el cliente, el estado del vehículo, la reserva si existe y el vendedor de su sucursal. Al contado registra el pago completo. A crédito registra el pie y genera las cuotas. Cambia el vehículo a VENDIDO y un trigger deja auditoría. Después registrar_pago permite abonar a las cuotas. Las funciones calculan los saldos y los procedimientos muestran los reportes. Este flujo conecta disponibilidad y cobranza. Fuente: SQL del proyecto Texto pegado(20261022-224951).txt.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 1. 4 vehículos DISPONIBLES.</a:t>
            </a:r>
          </a:p>
          <a:p xmlns:a="http://schemas.openxmlformats.org/drawingml/2006/main">
            <a:r>
              <a:t>Toyota Corolla: $15.000.000.</a:t>
            </a:r>
          </a:p>
          <a:p xmlns:a="http://schemas.openxmlformats.org/drawingml/2006/main">
            <a:r>
              <a:t>La captura muestra el inventario antes de registrar la venta.</a:t>
            </a:r>
          </a:p>
          <a:p xmlns:a="http://schemas.openxmlformats.org/drawingml/2006/main">
            <a:r>
              <a:t>Las capturas reales pertenecen a la demostración del 22 de octubre. Reserva y auditoría todavía requieren evidencia. Los ID pueden cambiar. Las consultas son para el estado de la demostración. No ejecutar otra venta sobre un vehículo ya vendido.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 2. Reserva ACTIVA para el cliente 1.</a:t>
            </a:r>
          </a:p>
          <a:p xmlns:a="http://schemas.openxmlformats.org/drawingml/2006/main">
            <a:r>
              <a:t>Vehículo 1 en estado RESERVADO.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Requiere que el vehículo esté disponible.</a:t>
            </a:r>
          </a:p>
          <a:p xmlns:a="http://schemas.openxmlformats.org/drawingml/2006/main">
            <a:r>
              <a:t>La reserva es opcional. Este paso debe capturarse antes de vender el vehículo.</a:t>
            </a:r>
          </a:p>
          <a:p xmlns:a="http://schemas.openxmlformats.org/drawingml/2006/main">
            <a:r>
              <a:t>Las capturas reales pertenecen a la demostración del 22 de octubre. Reserva y auditoría todavía requieren evidencia. Los ID pueden cambiar. Las consultas son para el estado de la demostración. No ejecutar otra venta sobre un vehículo ya vendido.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 3. Venta registrada: 23.</a:t>
            </a:r>
          </a:p>
          <a:p xmlns:a="http://schemas.openxmlformats.org/drawingml/2006/main">
            <a:r>
              <a:t>Saldo inicial: $12.000.000.</a:t>
            </a:r>
          </a:p>
          <a:p xmlns:a="http://schemas.openxmlformats.org/drawingml/2006/main">
            <a:r>
              <a:t>El package valida cliente, disponibilidad, reserva y vendedor. El ID 23 corresponde a la captura.</a:t>
            </a:r>
          </a:p>
          <a:p xmlns:a="http://schemas.openxmlformats.org/drawingml/2006/main">
            <a:r>
              <a:t>Las capturas reales pertenecen a la demostración del 22 de octubre. Reserva y auditoría todavía requieren evidencia. Los ID pueden cambiar. Las consultas son para el estado de la demostración. No ejecutar otra venta sobre un vehículo ya vendido.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 4. 12 cuotas de $1.000.000.</a:t>
            </a:r>
          </a:p>
          <a:p xmlns:a="http://schemas.openxmlformats.org/drawingml/2006/main">
            <a:r>
              <a:t>Pie: $3.000.000 sobre $15.000.000.</a:t>
            </a:r>
          </a:p>
          <a:p xmlns:a="http://schemas.openxmlformats.org/drawingml/2006/main">
            <a:r>
              <a:t>Las cuotas se generan dentro de registrar_venta. Use el ID devuelto en su ejecución.</a:t>
            </a:r>
          </a:p>
          <a:p xmlns:a="http://schemas.openxmlformats.org/drawingml/2006/main">
            <a:r>
              <a:t>Las capturas reales pertenecen a la demostración del 22 de octubre. Reserva y auditoría todavía requieren evidencia. Los ID pueden cambiar. Las consultas son para el estado de la demostración. No ejecutar otra venta sobre un vehículo ya vendido.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 5. Vehículo en estado VENDIDO.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Auditoría con el estado anterior y el estado nuevo.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reserva previa: RESERVADO a VENDIDO.</a:t>
            </a:r>
          </a:p>
          <a:p xmlns:a="http://schemas.openxmlformats.org/drawingml/2006/main">
            <a:r>
              <a:t>El trigger trg_auto_estado_vehiculo actúa automáticamente al cambiar el estado.</a:t>
            </a:r>
          </a:p>
          <a:p xmlns:a="http://schemas.openxmlformats.org/drawingml/2006/main">
            <a:r>
              <a:t>Las capturas reales pertenecen a la demostración del 22 de octubre. Reserva y auditoría todavía requieren evidencia. Los ID pueden cambiar. Las consultas son para el estado de la demostración. No ejecutar otra venta sobre un vehículo ya vendido.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Paso 6. Abono registrado: $500.000.</a:t>
            </a:r>
          </a:p>
          <a:p xmlns:a="http://schemas.openxmlformats.org/drawingml/2006/main">
            <a:r>
              <a:t>Nuevo saldo: $11.500.000.</a:t>
            </a:r>
          </a:p>
          <a:p xmlns:a="http://schemas.openxmlformats.org/drawingml/2006/main">
            <a:r>
              <a:t>La captura verifica el abono y el saldo. Los dos reportes requieren su propia captura si se presentan.</a:t>
            </a:r>
          </a:p>
          <a:p xmlns:a="http://schemas.openxmlformats.org/drawingml/2006/main">
            <a:r>
              <a:t>Las capturas reales pertenecen a la demostración del 22 de octubre. Reserva y auditoría todavía requieren evidencia. Los ID pueden cambiar. Las consultas son para el estado de la demostración. No ejecutar otra venta sobre un vehículo ya vendido.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58d6d9e7541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90f7b026249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e5737d48043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7c136b15043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9b815c8f444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8ae52552447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4e83c3d5a42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664a454f345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ff64d266e4d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f681ac89649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7e42f4585479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2CC972-A26D-4B8D-B730-0CF23ECA51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A6F2788-62DF-458E-9817-57806197C5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852BAD-6C12-4D20-B738-4CA387CCDC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E2D983-78D6-4FFC-BCFA-93FA53B510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42DC30-73FA-42B6-9506-AEA4CB025F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597DA3-059E-45C3-8177-3BB708DB5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023757-513A-43F5-9339-5765693057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2824DC-51EE-4BC5-9C39-1EF6BB64BE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698685-6097-4924-B901-604D59F30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939F56-66E6-478C-AD63-1D748E530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B617DE-D402-451B-AFF0-55C9165C80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BA20D-908D-4B19-8B60-68AFC54BF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4DB43F-9E9D-46DC-ADC3-EA75BA7B59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92790C-4C64-42EF-9D8C-B67D62C4B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451E56-F9F5-4D6E-9BF1-041770E0F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AE8757-4E16-42F8-BA8D-3A522BC9C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33326E-ADD1-474B-A09C-E1D607806C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9B3B308-81C0-4D10-A117-E6331302D9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D8C2F4A-769D-4F63-8AFB-2A279BB34A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9D3CD66-DB16-47E5-A842-498D188D9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8EB36EB-7E02-48AC-A241-ED3116F8F7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9CF597-CD69-48F3-82FC-B3C639CF3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105A8F-F388-45E5-87C9-65374FBD8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D618623-07E3-431F-9254-1F163C0089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917DC5D-7210-4DA8-A88B-204A6C29C8A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0B158D0-9148-4D18-851E-D84420C4E91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6D9C2A-4D17-430F-A8EF-5FF5F5DA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935764B-321C-4183-8305-8B1AA6F2B5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E91115F-2795-4808-A88F-E83CCBD0E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3E5C29-B890-4E46-A6D4-53C92DDB6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69AE73-8186-494F-B137-0D3C988D59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FDA6449-CCF3-4375-ABAF-15AF4E9BD1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060752-A07A-45F6-9C32-6A4DD0EF31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1B92C2B-BE3B-4562-809F-2542F899F3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B7B192D-858E-48DC-ADDD-093FB531A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7391589-B379-4F8D-8585-4450A8A8A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A9D23B-C1BC-462D-920C-3BD926EDD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A00CB0-3753-40C4-94F9-C4EE5EC10F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12441A-9B62-4ABD-8FCA-0C0E3AAA77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5BA81-6224-48A4-A386-0EBF58F20E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9D06FE-95E7-4BA9-81AF-BEDD97ED80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71471E-3060-4BF4-BE0C-CED9796055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FC45B4-7ED0-4195-9117-E40095F15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FD534AA-8D04-4FCF-943D-CFBE2E100F1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CB5E21-099E-41D3-AF19-769443873E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2B3F52-1C8C-4BA7-8609-5D2B198D5E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D88F85-6E33-4096-A6DC-C941FD7CA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1EE1269-DF4E-45E9-B1CD-59697E774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4947F1-CB4A-4975-9F1C-3D3F16E93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6C58AB-2B26-4459-B61D-746BC5478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9F45B3-E2E6-4923-B038-5F23BCA4B8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8CB82-EC5D-4EC9-A8EC-C67793F9F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E6073B-B3DC-480F-8B31-3402FBC12B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59841DB-8D2D-4BF4-A2DF-8FE80A07E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3A3769-0257-484C-94EC-683DF47631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0F65B6-9AD0-405F-A026-5F1ED091B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276813-7849-4C97-A711-41432DD526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5BFE10-C488-4B36-A757-8BB78517F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8a8766c8d49e4" /><Relationship Type="http://schemas.openxmlformats.org/officeDocument/2006/relationships/slideLayout" Target="/ppt/slideLayouts/slideLayout1.xml" Id="Redab4f2a85954ca6" /><Relationship Type="http://schemas.openxmlformats.org/officeDocument/2006/relationships/slideLayout" Target="/ppt/slideLayouts/slideLayout2.xml" Id="Rb1375ea286bf4f5d" /><Relationship Type="http://schemas.openxmlformats.org/officeDocument/2006/relationships/slideLayout" Target="/ppt/slideLayouts/slideLayout3.xml" Id="R299748063c604c13" /><Relationship Type="http://schemas.openxmlformats.org/officeDocument/2006/relationships/slideLayout" Target="/ppt/slideLayouts/slideLayout4.xml" Id="R2f9987e7dc2a4277" /><Relationship Type="http://schemas.openxmlformats.org/officeDocument/2006/relationships/slideLayout" Target="/ppt/slideLayouts/slideLayout5.xml" Id="R87f16ee28bb54a5d" /><Relationship Type="http://schemas.openxmlformats.org/officeDocument/2006/relationships/slideLayout" Target="/ppt/slideLayouts/slideLayout6.xml" Id="Rc2a489a53d1c49ef" /><Relationship Type="http://schemas.openxmlformats.org/officeDocument/2006/relationships/slideLayout" Target="/ppt/slideLayouts/slideLayout7.xml" Id="Rc23ac3234cc34fa2" /><Relationship Type="http://schemas.openxmlformats.org/officeDocument/2006/relationships/slideLayout" Target="/ppt/slideLayouts/slideLayout8.xml" Id="Re8db7855c0af4ad6" /><Relationship Type="http://schemas.openxmlformats.org/officeDocument/2006/relationships/slideLayout" Target="/ppt/slideLayouts/slideLayout9.xml" Id="Rd411e9f5a29c40fe" /><Relationship Type="http://schemas.openxmlformats.org/officeDocument/2006/relationships/slideLayout" Target="/ppt/slideLayouts/slideLayout10.xml" Id="R0101199f523f4e2b" /><Relationship Type="http://schemas.openxmlformats.org/officeDocument/2006/relationships/slideLayout" Target="/ppt/slideLayouts/slideLayout11.xml" Id="R6aebe4a496934d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D5CD410-5671-40BE-A993-C319489FB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86C21-07EF-48A8-9D6C-C064CB733C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BD9333-9500-4940-BD5C-1BBC8E0FD1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CD4D22-D9CC-46FA-8903-8AFC523A2EA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8C7ED6-34C4-4670-9AA1-A18143A995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b4f2a85954ca6"/>
    <p:sldLayoutId xmlns:r="http://schemas.openxmlformats.org/officeDocument/2006/relationships" id="2147483650" r:id="Rb1375ea286bf4f5d"/>
    <p:sldLayoutId xmlns:r="http://schemas.openxmlformats.org/officeDocument/2006/relationships" id="2147483651" r:id="R299748063c604c13"/>
    <p:sldLayoutId xmlns:r="http://schemas.openxmlformats.org/officeDocument/2006/relationships" id="2147483652" r:id="R2f9987e7dc2a4277"/>
    <p:sldLayoutId xmlns:r="http://schemas.openxmlformats.org/officeDocument/2006/relationships" id="2147483653" r:id="R87f16ee28bb54a5d"/>
    <p:sldLayoutId xmlns:r="http://schemas.openxmlformats.org/officeDocument/2006/relationships" id="2147483654" r:id="Rc2a489a53d1c49ef"/>
    <p:sldLayoutId xmlns:r="http://schemas.openxmlformats.org/officeDocument/2006/relationships" id="2147483655" r:id="Rc23ac3234cc34fa2"/>
    <p:sldLayoutId xmlns:r="http://schemas.openxmlformats.org/officeDocument/2006/relationships" id="2147483656" r:id="Re8db7855c0af4ad6"/>
    <p:sldLayoutId xmlns:r="http://schemas.openxmlformats.org/officeDocument/2006/relationships" id="2147483657" r:id="Rd411e9f5a29c40fe"/>
    <p:sldLayoutId xmlns:r="http://schemas.openxmlformats.org/officeDocument/2006/relationships" id="2147483658" r:id="R0101199f523f4e2b"/>
    <p:sldLayoutId xmlns:r="http://schemas.openxmlformats.org/officeDocument/2006/relationships" id="2147483659" r:id="R6aebe4a496934dd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ab21ac54654c8d" /><Relationship Type="http://schemas.openxmlformats.org/officeDocument/2006/relationships/image" Target="/ppt/media/image.png" Id="Ra4e4004744ff4d92" /><Relationship Type="http://schemas.openxmlformats.org/officeDocument/2006/relationships/notesSlide" Target="/ppt/notesSlides/notesSlide1.xml" Id="R47828950cb04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4a8685fd974300" /><Relationship Type="http://schemas.openxmlformats.org/officeDocument/2006/relationships/notesSlide" Target="/ppt/notesSlides/notesSlide2.xml" Id="R5046aa063f7241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d2b7ed64fa403a" /><Relationship Type="http://schemas.openxmlformats.org/officeDocument/2006/relationships/notesSlide" Target="/ppt/notesSlides/notesSlide3.xml" Id="R40bb50f0d18a40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e8694404a34c27" /><Relationship Type="http://schemas.openxmlformats.org/officeDocument/2006/relationships/notesSlide" Target="/ppt/notesSlides/notesSlide4.xml" Id="R21b1c623cb11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3f183eb4b04c5a" /><Relationship Type="http://schemas.openxmlformats.org/officeDocument/2006/relationships/notesSlide" Target="/ppt/notesSlides/notesSlide5.xml" Id="R7b7bbca9b94a46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777281e69345f3" /><Relationship Type="http://schemas.openxmlformats.org/officeDocument/2006/relationships/notesSlide" Target="/ppt/notesSlides/notesSlide6.xml" Id="Rc9067192f1dc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9b98b67bb24793" /><Relationship Type="http://schemas.openxmlformats.org/officeDocument/2006/relationships/notesSlide" Target="/ppt/notesSlides/notesSlide7.xml" Id="R81e9a67be0e9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6a6d89aa964502" /><Relationship Type="http://schemas.openxmlformats.org/officeDocument/2006/relationships/notesSlide" Target="/ppt/notesSlides/notesSlide8.xml" Id="R2ca7acd2b5c74e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f5fcf4507947ac" /><Relationship Type="http://schemas.openxmlformats.org/officeDocument/2006/relationships/notesSlide" Target="/ppt/notesSlides/notesSlide9.xml" Id="R94ca6e6d042644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f0578d127740a9" /><Relationship Type="http://schemas.openxmlformats.org/officeDocument/2006/relationships/notesSlide" Target="/ppt/notesSlides/notesSlide10.xml" Id="R553ad27facb247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1ec2bdd1fc4def" /><Relationship Type="http://schemas.openxmlformats.org/officeDocument/2006/relationships/notesSlide" Target="/ppt/notesSlides/notesSlide11.xml" Id="R76b55520e1df46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2e7c84c923403b" /><Relationship Type="http://schemas.openxmlformats.org/officeDocument/2006/relationships/notesSlide" Target="/ppt/notesSlides/notesSlide12.xml" Id="R9066bacfeeb948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fe94299ee649e5" /><Relationship Type="http://schemas.openxmlformats.org/officeDocument/2006/relationships/notesSlide" Target="/ppt/notesSlides/notesSlide13.xml" Id="R950b62387cd248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4581e8aba045cb" /><Relationship Type="http://schemas.openxmlformats.org/officeDocument/2006/relationships/notesSlide" Target="/ppt/notesSlides/notesSlide14.xml" Id="R01e10fea47be42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cd09db00e04445" /><Relationship Type="http://schemas.openxmlformats.org/officeDocument/2006/relationships/notesSlide" Target="/ppt/notesSlides/notesSlide15.xml" Id="R98a8bd5b1d0b4e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c75303f0dc4b51" /><Relationship Type="http://schemas.openxmlformats.org/officeDocument/2006/relationships/notesSlide" Target="/ppt/notesSlides/notesSlide16.xml" Id="R120dfd7f910942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98ffcab95247cf" /><Relationship Type="http://schemas.openxmlformats.org/officeDocument/2006/relationships/notesSlide" Target="/ppt/notesSlides/notesSlide17.xml" Id="Re0a568b0c0644b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672816cc5f4eb1" /><Relationship Type="http://schemas.openxmlformats.org/officeDocument/2006/relationships/image" Target="/ppt/media/image2.png" Id="Rd40ab9c2d8994a4e" /><Relationship Type="http://schemas.openxmlformats.org/officeDocument/2006/relationships/notesSlide" Target="/ppt/notesSlides/notesSlide18.xml" Id="Rd5e527821cc74c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3292a17eb24751" /><Relationship Type="http://schemas.openxmlformats.org/officeDocument/2006/relationships/notesSlide" Target="/ppt/notesSlides/notesSlide19.xml" Id="R76f47c28c8b04d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86d77ba76e451b" /><Relationship Type="http://schemas.openxmlformats.org/officeDocument/2006/relationships/image" Target="/ppt/media/image3.png" Id="R13f45fa2f6d147eb" /><Relationship Type="http://schemas.openxmlformats.org/officeDocument/2006/relationships/notesSlide" Target="/ppt/notesSlides/notesSlide20.xml" Id="Ra3657f28a40540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a39a11cd6c4975" /><Relationship Type="http://schemas.openxmlformats.org/officeDocument/2006/relationships/image" Target="/ppt/media/image4.png" Id="R1cbb747a0c0d424f" /><Relationship Type="http://schemas.openxmlformats.org/officeDocument/2006/relationships/notesSlide" Target="/ppt/notesSlides/notesSlide21.xml" Id="R912acef4581748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045362140c4c21" /><Relationship Type="http://schemas.openxmlformats.org/officeDocument/2006/relationships/notesSlide" Target="/ppt/notesSlides/notesSlide22.xml" Id="R263f9ba3b3bf42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4f250eff7d4dd8" /><Relationship Type="http://schemas.openxmlformats.org/officeDocument/2006/relationships/image" Target="/ppt/media/image5.png" Id="Re9f84000c93642bc" /><Relationship Type="http://schemas.openxmlformats.org/officeDocument/2006/relationships/notesSlide" Target="/ppt/notesSlides/notesSlide23.xml" Id="Re77387fd76d44c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A36EA2-8608-4A73-B4DD-D2C332ED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EAC1E-9E9D-4A4B-A00F-68381A41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Sistema de gestión de venta de vehículos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D5EA24-321A-4C39-AB20-7C55FFA3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Evaluación Parcial 2  |  Taller de Base de Datos  |  Equipo de 2 integrantes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A8F056-AAF4-4E4A-B728-C3BDBF3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01   |   BDY1103  ·  Oracle PL/SQL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A684632-777A-46B3-AB21-9D213E100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4004744ff4d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63040"/>
            <a:ext cx="10881360" cy="43891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6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BB0F1D-52FE-4330-A777-630DE63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D53296-4DEA-4A2B-BD39-B80D7BCF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Problema de negocio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A4E78A-5971-4C7E-BC2C-976992A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1  |  0:45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4435F3A-B54C-4E8B-98DB-E138C7A1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02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259E543-1F0B-4944-8A57-C52560E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39496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8C75BC-08C8-44D4-AE51-147BF2D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72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SITUACIÓN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E68D83E-337B-49D7-9DF1-42ABACC2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93392"/>
            <a:ext cx="5065776" cy="3685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Inventario repartido entre sucursales.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Reservas, ventas y pagos requieren control.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Sin trazabilidad, aumenta el riesgo de vender dos veces un vehículo.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2D5DE93-222E-40C7-B2FF-CFAB0CC8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63040"/>
            <a:ext cx="539496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36F2043-2141-46DD-925A-D053269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72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IMPACTO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5A76A8-3102-49CC-9739-2C55F25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993392"/>
            <a:ext cx="5065776" cy="3685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Errores en disponibilidad.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Dificultad para calcular deudas y comisiones.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Reportes manuales y poco oportunos.</a:t>
            </a:r>
          </a:p>
        </p:txBody>
      </p:sp>
    </p:spTree>
    <p:extLst>
      <p:ext uri="{BB962C8B-B14F-4D97-AF65-F5344CB8AC3E}">
        <p14:creationId xmlns:p14="http://schemas.microsoft.com/office/powerpoint/2010/main" val="1277167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16CC81-4D02-4B7D-A40A-41E9DA24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84C8FE-B3E6-4462-B61F-53D41348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Solución 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39E098-E9E6-4FCF-86AA-52BFF31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1  |  0:45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52A766-DF1B-481C-82A8-F1F5F173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03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D4F235-B6DE-4A15-AA5C-28D32F8B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78992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DC579E-9BDA-4488-9961-FECB164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572768"/>
            <a:ext cx="104607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ORACLE DATABASE + PL/SQL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BE56430-9489-46D9-ABC7-559FCBA1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993392"/>
            <a:ext cx="10460736" cy="3685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Tablas y restricciones para integridad.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Funciones para cálculos.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Procedimientos para reportes.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Package para reservas, ventas y pagos.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Triggers para auditoría y protección.</a:t>
            </a:r>
          </a:p>
        </p:txBody>
      </p:sp>
    </p:spTree>
    <p:extLst>
      <p:ext uri="{BB962C8B-B14F-4D97-AF65-F5344CB8AC3E}">
        <p14:creationId xmlns:p14="http://schemas.microsoft.com/office/powerpoint/2010/main" val="1674920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964B31-25C9-45C4-BCC6-A1D8BEC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088FE2-9429-40A1-B19B-E480C50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Modelo relacional del sistema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DD12B9-59C4-4018-8C74-C1D2398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1  |  1:10 min  |  Relaciones reales del script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866688-FC9D-4C04-A180-77C270E6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04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24F94BA-D745-420B-9D2B-8E541AB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D04FA5-5466-41A0-A77D-7A3B8D65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SUCURSALES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F399BE0-6071-4150-BB30-76C2F27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PK id_sucursal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8F21C0A-60BD-45B4-A3B6-9A1820C7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37160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ECE0C7D-1987-427C-B4D9-A5DEDF8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4630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VEHÍCULOS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546534D-0369-4AF0-967E-2B42BE0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79222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PK id_vehiculo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id_sucursal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556AB44-6D6F-492E-9D45-EA285906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37160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2C98D8-E999-44A1-8E1B-E515A632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4630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CLIENTES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BBB8000-DF3F-4031-91AA-21EABC50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79222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PK id_cliente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964ECB1-D69C-4B68-9BF8-4697699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37160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5AAEB6E-F8AF-4F8C-A6DE-7A843D6C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7" y="14630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VENDEDORES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5415055-1E96-4B8C-8818-93B5ED44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7" y="179222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PK id_vendedor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id_sucursal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2923BBA-3C8D-4F26-86A4-86E8EF3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BD88552-5E40-4382-BBC4-5D2DFFCD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RESERVAS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4B933B-B31D-44B1-8988-6B24CC2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id_cliente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id_vehiculo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B590DA9-3F32-4F34-BC19-427B276D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56616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2AFA7B8-7503-4EE0-85A4-CCFA460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6576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VENTAS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EB5A113-48BD-4AA8-ADE8-3C420470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98678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id_cliente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id_vehiculo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id_vendedor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id_sucursal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AE4511B-4A16-483A-96EF-50C2D50E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6616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6846F3F-4912-470E-9E1F-7F83E1EA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6576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CUOTAS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739F38C-C6C6-46FD-BA94-58C2C58F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98678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id_venta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9949BA1-E525-4B7B-8CB3-5E8A7FF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66160"/>
            <a:ext cx="23317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767A9BB-62A7-49BB-9E9E-E6BAC77A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7" y="36576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PAGOS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D64AE84-1DDD-4837-9E3C-5C320C89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7" y="3986784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id_venta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FK id_cuota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C6DEF162-FAD5-4695-82DD-80B00FE8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212080"/>
            <a:ext cx="233172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1FA"/>
          </a:solidFill>
          <a:ln xmlns:a="http://schemas.openxmlformats.org/drawingml/2006/main">
            <a:solidFill>
              <a:srgbClr val="0082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EF3FA30-8350-4805-AB0C-A7485418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30352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AUDITORÍA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991A16B-6E2C-4235-83E1-93A5DC1B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63270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1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Registra cambios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227BC9C-0E27-4232-9B47-48B3E73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26480"/>
            <a:ext cx="10789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Relaciones por claves foráneas: sucursal → vehículos/vendedores/ventas; cliente → reservas/ventas; venta → cuotas/pagos.</a:t>
            </a:r>
          </a:p>
        </p:txBody>
      </p:sp>
    </p:spTree>
    <p:extLst>
      <p:ext uri="{BB962C8B-B14F-4D97-AF65-F5344CB8AC3E}">
        <p14:creationId xmlns:p14="http://schemas.microsoft.com/office/powerpoint/2010/main" val="616160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7ECBD-9125-4192-A329-1623BB4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Flujo de trabajo de la automotora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102D5-07B9-479A-B766-FE77DDAE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Selección del vehículo, reserva opcional, venta y seguimiento de pagos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359D5-00E7-4FA0-B4A9-4836D103C817}"/>
              </a:ext>
            </a:extLst>
          </p:cNvPr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01375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333750"/>
                <a:gridCol w="6810375"/>
              </a:tblGrid>
              <a:tr h="5578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T w="9525">
                      <a:solidFill>
                        <a:srgbClr val="CBD7DE"/>
                      </a:solidFill>
                      <a:prstDash val="solid"/>
                    </a:lnT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10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T w="9525">
                      <a:solidFill>
                        <a:srgbClr val="CBD7DE"/>
                      </a:solidFill>
                      <a:prstDash val="solid"/>
                    </a:lnT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10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hace el sistema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T w="9525">
                      <a:solidFill>
                        <a:srgbClr val="CBD7DE"/>
                      </a:solidFill>
                      <a:prstDash val="solid"/>
                    </a:lnT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102C4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Selección del vehículo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la unidad y su disponibilidad.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 opcional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reservar_vehiculo aparta la unidad para el cliente.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Validación de la venta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registrar_venta revisa cliente, vehículo, reserva y vendedor.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Pago inicial y cuotas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Contado: pago completo. Crédito: pie y generación de cuotas.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y auditoría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vehículo pasa a VENDIDO. Un trigger registra el cambio.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7DE"/>
                      </a:solidFill>
                      <a:prstDash val="solid"/>
                    </a:lnL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Abonos y reportes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A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registrar_pago registra abonos. Funciones y procedimientos muestran saldos.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7DE"/>
                      </a:solidFill>
                      <a:prstDash val="solid"/>
                    </a:lnR>
                    <a:lnB w="9525">
                      <a:solidFill>
                        <a:srgbClr val="CBD7DE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20777-C91E-4D0F-8FF1-1284533D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La venta puede realizarse sin una reserva previa.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FC75E-FA0B-4F27-8967-3AF9AA0B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Geymy · Flujo de trabajo · 45 segundos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11FC2-1B6E-4D21-B594-998CEE5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3963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91F033-8E02-4141-A67E-CF178379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AE70B7-623E-4111-8F60-8BBEACA2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Procedimiento sin parámetros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81F021-6604-41E0-8706-33B67ADC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1  |  0:50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3FFA34-BAEA-4537-9F2A-E644F77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05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C299D99-5E48-4950-8A89-A6D9E47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517468-4945-4E96-8AFD-47C1D835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CÓDIGO REAL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72F527-B979-4CFD-B910-699F85FE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CREATE OR REPLACE PROCEDURE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sp_resumen_sucursales IS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CURSOR c_sucursales IS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SELECT id_sucursal, nombre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FROM sucursales_automotora;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BEGIN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FOR sucursal IN c_sucursales LOOP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 -- Calcula ventas y cobros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 DBMS_OUTPUT.PUT_LINE(...);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END LOOP;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END;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E03145-04C5-40B0-9D34-F3F7A93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C713E09-EE3F-4DD8-ABFB-05B0DB36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EJECUCIÓN EN SQL DEVELOPER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81DCD7E-3E34-4CB9-91B4-9240267A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SET SERVEROUTPUT ON;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EXEC sp_resumen_sucursales;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Capturar salida DBMS_OUTPUT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con ventas, cobros y pendiente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por sucursal.</a:t>
            </a:r>
          </a:p>
        </p:txBody>
      </p:sp>
    </p:spTree>
    <p:extLst>
      <p:ext uri="{BB962C8B-B14F-4D97-AF65-F5344CB8AC3E}">
        <p14:creationId xmlns:p14="http://schemas.microsoft.com/office/powerpoint/2010/main" val="665591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158E1D-2BB1-4918-9474-779FCAAA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AF3D1B-0B93-40A6-A1E1-60AC9D6F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Procedimiento con parámetros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A188F1-2DA1-4626-A813-7295873B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1  |  0:45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81071E-919B-424A-A65E-9F897B3F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06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6A53F0B-3F9C-43BB-9780-6751DBF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B6EF1F-386B-4A66-85E5-CFC5EC3A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CÓDIGO REAL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E5EB7AE-4207-4A01-BEE5-9FDB752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PROCEDURE sp_deuda_cliente (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p_id_cliente IN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clientes_automotora.id_cliente%TYPE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) IS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CURSOR c_ventas(p_cliente ...) IS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SELECT id_venta, fecha, total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FROM ventas_vehiculos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WHERE id_cliente = p_cliente;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-- Calcula saldo por venta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B0D5103-879E-4A65-8516-C8B01A7B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256F422-94FC-46B9-8F58-96883B8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EJECUCIÓN EN SQL DEVELOPER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759C53-7695-40FE-A548-852CAE5C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SET SERVEROUTPUT ON;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EXEC sp_deuda_cliente(1);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Usar ID de cliente existente.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Capturar deuda total y detalle.</a:t>
            </a:r>
          </a:p>
        </p:txBody>
      </p:sp>
    </p:spTree>
    <p:extLst>
      <p:ext uri="{BB962C8B-B14F-4D97-AF65-F5344CB8AC3E}">
        <p14:creationId xmlns:p14="http://schemas.microsoft.com/office/powerpoint/2010/main" val="2143232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FC4019-B189-4CCA-8409-9ADE3A79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886EFF0-414C-4FEF-906F-0EBD9A0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Funciones con y sin parámetros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A25825-985E-4AF0-B818-E07EA384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1  |  0:45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67365A-88BE-4761-80B2-6C1A6000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07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77276CE-FDC8-4AAF-8C51-42B128C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D0FA2B7-EA06-450C-B11C-EEDFA993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FUNCIONES DEL PROYECTO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AEDD863-2C28-4743-9C5C-E4009A5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fn_total_automotora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  Sin parámetros: suma ventas vigentes.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fn_saldo_automotora(p_id_venta)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  Con parámetro: total menos pagos.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fn_comision_automotora(p_id_venta)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  Comisión sobre pagos recibidos.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0ACC558-5B47-483D-8D75-02ADD434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49FED92-BDDC-4A64-9DF8-8CC36C1C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CONSULTAS PARA EVIDENCIA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5E0F30-DD33-41FD-9829-25C8709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-- Total vendido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SELECT fn_total_automotora()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  AS total_ventas FROM dual;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-- Saldo de una venta existente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SELECT fn_saldo_automotora(1)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  AS saldo FROM dual;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-- Comisión de una venta existente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SELECT fn_comision_automotora(1)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112842"/>
                </a:solidFill>
                <a:latin typeface="Consolas"/>
                <a:ea typeface="Consolas"/>
                <a:cs typeface="Consolas"/>
              </a:rPr>
              <a:t>  AS comision FROM dual;</a:t>
            </a:r>
          </a:p>
        </p:txBody>
      </p:sp>
    </p:spTree>
    <p:extLst>
      <p:ext uri="{BB962C8B-B14F-4D97-AF65-F5344CB8AC3E}">
        <p14:creationId xmlns:p14="http://schemas.microsoft.com/office/powerpoint/2010/main" val="82961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EB7BB2-3957-4636-BD65-9418787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C48A165-0B9A-4DD7-8E0B-672D0444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Cursores explícitos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B27669B-425F-473A-8FFB-1173BF3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2  |  0:55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FA7BE8-3088-46A8-8C10-4E36F6D5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08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87DF7B1-681A-42C0-952C-50647C91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E266FD-9595-45D4-9484-EBC4F12B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CÓDIGO REAL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390DB-FC12-4E91-B332-2347617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CURSOR c_sucursales IS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SELECT id_sucursal, nombre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FROM sucursales_automotora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ORDER BY id_sucursal;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FOR sucursal IN c_sucursales LOOP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-- Consultas COUNT y SUM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DBMS_OUTPUT.PUT_LINE(...);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END LOOP;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FFEC8FA-EB5F-4AC7-96C6-351DA699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0769ED6-6A13-41F9-804A-030B199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PRUEBA DEL CURSOR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13ED1B3-1086-4C3D-8F25-99A3F5D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EXEC sp_resumen_sucursales;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Capturar DBMS_OUTPUT.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Explicar que el cursor recorre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cada sucursal y resume ventas.</a:t>
            </a:r>
          </a:p>
        </p:txBody>
      </p:sp>
    </p:spTree>
    <p:extLst>
      <p:ext uri="{BB962C8B-B14F-4D97-AF65-F5344CB8AC3E}">
        <p14:creationId xmlns:p14="http://schemas.microsoft.com/office/powerpoint/2010/main" val="208464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3F923C-22E0-49CF-8CF1-7E83990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59A77C-34F5-4B47-91EA-A8E8311D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Package pkg_automotora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AF9780-A5F2-4D31-8CCA-1AF779E9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2  |  1:05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D165ACA-7526-48C9-B53F-2722A98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09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F80C754-A6DB-4AD4-B8BC-40D58D8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3A73845-3FA3-4D77-B505-9F9BE2BB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ESTRUCTURA REAL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E20C7E-20C9-4558-8738-2C8895B7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CREATE OR REPLACE PACKAGE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pkg_automotora 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PROCEDURE reservar_vehiculo(...);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PROCEDURE liberar_reservas;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-- Más operaciones públicas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END;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PACKAGE BODY pkg_automotora 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-- Validaciones y lógica interna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END;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92AE96-75B6-4E61-B179-8BDA58D1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DD085B3-AEE3-49D7-937A-FBAF34A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PRUEBA DEL PACKAGE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CABC4E-8163-49B4-9E99-2F9E8F6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SELECT pkg_automotora.total_vendido()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AS total_vendido FROM dual;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Capturar total obtenido.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Mostrar en el código la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especificación y el BODY.</a:t>
            </a:r>
          </a:p>
        </p:txBody>
      </p:sp>
    </p:spTree>
    <p:extLst>
      <p:ext uri="{BB962C8B-B14F-4D97-AF65-F5344CB8AC3E}">
        <p14:creationId xmlns:p14="http://schemas.microsoft.com/office/powerpoint/2010/main" val="2089710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36DD877-645E-4DBD-958F-FE32FF07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DAF167F-2FE7-47A3-B598-3B76FFC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Triggers de fila y de sentencia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18C94C-7336-427A-922D-5CBD9C1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2  |  1:05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54BEF09-057B-440B-9AC2-CD703DF3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10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C9EE257-F538-4611-BDAA-239CF36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94F20-7650-4A2C-9D7B-4AC25C2A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CÓDIGO REAL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E923F0-F853-4449-A089-26DB05F2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trg_auto_estado_vehiculo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AFTER UPDATE OF estado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FOR EACH ROW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→ audita cambios de estado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trg_auto_auditoria_ventas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AFTER INSERT OR UPDATE OR DELETE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→ audita por sentencia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trg_auto_proteger_pagos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BEFORE UPDATE OR DELETE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FOR EACH ROW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→ bloquea cambios de pagos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600379A-21AA-4643-BE99-27C3860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1445AE4-E7D7-4549-8F83-5274274C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PRUEBA DE TRIGGERS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37847D5-C50A-4C63-92B5-C0D2224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SELECT fecha, tabla, operacion,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nivel, id_registro, detalle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FROM auditoria_automotora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ORDER BY fecha DESC;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Capturar registros reales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de auditoría.</a:t>
            </a:r>
          </a:p>
        </p:txBody>
      </p:sp>
    </p:spTree>
    <p:extLst>
      <p:ext uri="{BB962C8B-B14F-4D97-AF65-F5344CB8AC3E}">
        <p14:creationId xmlns:p14="http://schemas.microsoft.com/office/powerpoint/2010/main" val="166411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4B3958-0A96-4563-AEE5-244B84A5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9A49D41-E7FD-413D-9850-7E252DC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Demostración de inventario y resultados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8D8014-2D8E-4833-8505-ADC8A1E3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2  |  0:55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7C6348-D137-47B6-A025-FCF241E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11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4D0DE0E-1AB0-4BD3-AAA7-BAB7E3B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6692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E045F4-DE6D-4A52-9594-5088A78F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53400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CONSULTA REAL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97F1743-C340-45D2-AE42-916B955C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93392"/>
            <a:ext cx="534009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SELECT v.id_vehiculo, v.marca,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v.modelo, v.precio, v.estado,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s.nombre AS sucursal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FROM vehiculos_automotora v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JOIN sucursales_automotora 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 ON s.id_sucursal = v.id_sucursal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ORDER BY v.id_vehiculo;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05C7487-F243-4E46-BD05-C5BD5EF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530352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7FC4106-B0DB-49C8-8C1E-5A4A2C2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2842"/>
                </a:solidFill>
              </a:rPr>
              <a:t>CONSULTA DE INVENTARIO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26493A9-A7DA-42DA-B5F7-6026E065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93392"/>
            <a:ext cx="4974336" cy="3913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Ejecutar consulta de inventario.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Capturar tabla con marca,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modelo, precio, estado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0A1F3A"/>
                </a:solidFill>
                <a:latin typeface="Consolas"/>
                <a:ea typeface="Consolas"/>
                <a:cs typeface="Consolas"/>
              </a:defRPr>
            </a:pPr>
            <a:r>
              <a:t>y sucursal.</a:t>
            </a:r>
          </a:p>
        </p:txBody>
      </p:sp>
    </p:spTree>
    <p:extLst>
      <p:ext uri="{BB962C8B-B14F-4D97-AF65-F5344CB8AC3E}">
        <p14:creationId xmlns:p14="http://schemas.microsoft.com/office/powerpoint/2010/main" val="3623556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71590D-66A9-493B-8E24-97727572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BF95A6-48F3-4656-AF89-3D99DF43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4592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Conclusiones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A634CD-AC3D-4628-ADD2-3F780E9B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525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Integrante 2  |  0:20 min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0B9FF6-755D-47BA-A5F7-E5E0404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54710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52697F"/>
                </a:solidFill>
                <a:latin typeface="Aptos"/>
                <a:ea typeface="Aptos"/>
                <a:cs typeface="Aptos"/>
              </a:defRPr>
            </a:pPr>
            <a:r>
              <a:t>12   |   BDY1103  ·  Oracle PL/SQL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39B99EE-E8F5-45BB-889D-82E936D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60704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>
            <a:solidFill>
              <a:srgbClr val="D3E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0FC4BA-08BD-440A-81C7-AF7D239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72768"/>
            <a:ext cx="102778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400" b="1">
                <a:solidFill>
                  <a:srgbClr val="0082CA"/>
                </a:solidFill>
                <a:latin typeface="Aptos"/>
                <a:ea typeface="Aptos"/>
                <a:cs typeface="Aptos"/>
              </a:defRPr>
            </a:pPr>
            <a:r>
              <a:t>RESULTADOS DEL PROYECTO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C4F132-3410-4F86-B741-BB6A406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93392"/>
            <a:ext cx="10277856" cy="3685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Control centralizado de inventario, reservas y ventas.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Cálculo de saldos, cobros y comisiones.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Auditoría de cambios y protección de pagos.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700" b="0">
                <a:solidFill>
                  <a:srgbClr val="0A1F3A"/>
                </a:solidFill>
                <a:latin typeface="Aptos"/>
                <a:ea typeface="Aptos"/>
                <a:cs typeface="Aptos"/>
              </a:defRPr>
            </a:pPr>
            <a:r>
              <a:t>Procedimientos reutilizables para reportes.</a:t>
            </a:r>
          </a:p>
        </p:txBody>
      </p:sp>
    </p:spTree>
    <p:extLst>
      <p:ext uri="{BB962C8B-B14F-4D97-AF65-F5344CB8AC3E}">
        <p14:creationId xmlns:p14="http://schemas.microsoft.com/office/powerpoint/2010/main" val="7393841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4C32C3-B6F0-4FF3-B10A-0B798F9C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2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93795C-FFC9-44AF-A852-9751392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Prueba integrada: venta a crédito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1A95BB7-1F80-40E2-97C8-472A2A45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4241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4D6A82"/>
                </a:solidFill>
                <a:latin typeface="Aptos"/>
                <a:ea typeface="Aptos"/>
                <a:cs typeface="Aptos"/>
              </a:defRPr>
            </a:pPr>
            <a:r>
              <a:t>Caso controlado dentro del bloque de pruebas del SQL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56B268-D382-4DC2-87FB-5A9A7EC6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E05942-5A59-4A04-9887-6BF00D2A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44068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13E771-4C66-4DE7-96AC-E1360145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498348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OPERACIÓN EN EL CÓDIGO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Registrar Toyota de prueba: $15.000.000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Pie: $3.000.000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Financiamiento: 12 cuotas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Registrar abono de $500.000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931001-6508-4276-9ACA-65A8D91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493776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COMPROBACIONES PROGRAMADAS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Reserva creada y concretada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Vehículo pasa a VENDIDO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12 cuotas suman $12.000.000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Saldo inicial: $12.000.000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Saldo tras abono: $11.500.000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9B07BA0-FFBF-4014-A4EF-5A6D483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000" b="0">
                <a:solidFill>
                  <a:srgbClr val="647384"/>
                </a:solidFill>
                <a:latin typeface="Aptos"/>
                <a:ea typeface="Aptos"/>
                <a:cs typeface="Aptos"/>
              </a:defRPr>
            </a:pPr>
            <a:r>
              <a:t>BDY1103  |  Evidencias derivadas de las comprobaciones del script, no capturas de Oracle</a:t>
            </a:r>
          </a:p>
        </p:txBody>
      </p:sp>
    </p:spTree>
    <p:extLst>
      <p:ext uri="{BB962C8B-B14F-4D97-AF65-F5344CB8AC3E}">
        <p14:creationId xmlns:p14="http://schemas.microsoft.com/office/powerpoint/2010/main" val="12785484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3D0DFB-2529-4E10-B9A9-E3CF0469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2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0D03E3-59BE-44A5-884B-89F19B4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Prueba integrada: reglas y seguridad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4086F15-DBD7-4D81-A039-2539A96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4241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4D6A82"/>
                </a:solidFill>
                <a:latin typeface="Aptos"/>
                <a:ea typeface="Aptos"/>
                <a:cs typeface="Aptos"/>
              </a:defRPr>
            </a:pPr>
            <a:r>
              <a:t>Validaciones automáticas y auditoría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7CFE12-F00E-449C-B5E5-6906CEE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4E3EE8-750A-49CE-AFA3-2AA111EB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44068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57404A8-C4FC-4611-BCF8-24DC749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498348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VALIDACIONES EN EL SCRIPT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Rechaza vender un vehículo reservado a otro cliente.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Impide sobrepagos de cuotas.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Bloquea UPDATE y DELETE de pagos mediante trigger.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E6BC516-2F47-498E-B945-1C5E63E9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493776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EVIDENCIA TÉCNICA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trg_auto_estado_vehiculo: registra cambio por fila.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trg_auto_auditoria_ventas: registra operación por sentencia.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El bloque de pruebas verifica estos comportamientos y hace ROLLBACK.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3FB2B5-E487-4074-A3BE-8027313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000" b="0">
                <a:solidFill>
                  <a:srgbClr val="647384"/>
                </a:solidFill>
                <a:latin typeface="Aptos"/>
                <a:ea typeface="Aptos"/>
                <a:cs typeface="Aptos"/>
              </a:defRPr>
            </a:pPr>
            <a:r>
              <a:t>BDY1103  |  Evidencias derivadas de las comprobaciones del script, no capturas de Oracle</a:t>
            </a:r>
          </a:p>
        </p:txBody>
      </p:sp>
    </p:spTree>
    <p:extLst>
      <p:ext uri="{BB962C8B-B14F-4D97-AF65-F5344CB8AC3E}">
        <p14:creationId xmlns:p14="http://schemas.microsoft.com/office/powerpoint/2010/main" val="7341930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66DF88-641C-4AA4-BBF3-21FCA7E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2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409B08F-DA0B-4D38-B046-30DD71CC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Validación final del proyecto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82F7A6-AC83-4816-8FAC-F14D4F1D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4241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0">
                <a:solidFill>
                  <a:srgbClr val="4D6A82"/>
                </a:solidFill>
                <a:latin typeface="Aptos"/>
                <a:ea typeface="Aptos"/>
                <a:cs typeface="Aptos"/>
              </a:defRPr>
            </a:pPr>
            <a:r>
              <a:t>Consultas disponibles para mostrar resultados en Oracle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2FB4CD-7564-4B32-AD67-35C989E1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A0BC3B-8C63-4893-82CD-06717CD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44068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14EFF1-910F-4390-B524-FB21E14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498348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OBJETOS PL/SQL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SELECT object_name, object_type, status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FROM user_objects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WHERE object_name LIKE '%AUTOMOTORA%';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SELECT name, type, line, text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FROM user_errors;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90A2092-2F76-4A77-A061-05706C5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493776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RESULTADOS DE NEGOCIO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SELECT * FROM vehiculos_automotora;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SELECT pkg_automotora.total_vendido() FROM dual;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SELECT tabla, operacion, nivel, detalle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FROM auditoria_automotora;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</a:p>
          <a:p xmlns:a="http://schemas.openxmlformats.org/drawingml/2006/main">
            <a:pPr>
              <a:spcAft>
                <a:spcPts val="900"/>
              </a:spcAft>
              <a:buNone/>
              <a:defRPr sz="1600" b="0">
                <a:solidFill>
                  <a:srgbClr val="172B46"/>
                </a:solidFill>
                <a:latin typeface="Aptos"/>
                <a:ea typeface="Aptos"/>
                <a:cs typeface="Aptos"/>
              </a:defRPr>
            </a:pPr>
            <a:r>
              <a:t>Insertar capturas auténticas antes de entregar.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6F72D7F-EA72-4CE1-BE66-C369349B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179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000" b="0">
                <a:solidFill>
                  <a:srgbClr val="647384"/>
                </a:solidFill>
                <a:latin typeface="Aptos"/>
                <a:ea typeface="Aptos"/>
                <a:cs typeface="Aptos"/>
              </a:defRPr>
            </a:pPr>
            <a:r>
              <a:t>BDY1103  |  Evidencias derivadas de las comprobaciones del script, no capturas de Oracle</a:t>
            </a:r>
          </a:p>
        </p:txBody>
      </p:sp>
    </p:spTree>
    <p:extLst>
      <p:ext uri="{BB962C8B-B14F-4D97-AF65-F5344CB8AC3E}">
        <p14:creationId xmlns:p14="http://schemas.microsoft.com/office/powerpoint/2010/main" val="56777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C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34E6CA2-1694-42AD-A6D1-53005A4A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720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3100" b="1">
                <a:solidFill>
                  <a:srgbClr val="FFFFFF"/>
                </a:solidFill>
              </a:rPr>
              <a:t>CIERRE Y CONCLUSIÓN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1137F38-7E20-42B7-AD27-8D81CB6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71600"/>
            <a:ext cx="1024128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2100" b="0">
                <a:solidFill>
                  <a:srgbClr val="FFFFFF"/>
                </a:solidFill>
              </a:rPr>
              <a:t>¿Qué logramos?</a:t>
            </a:r>
          </a:p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2100" b="0">
                <a:solidFill>
                  <a:srgbClr val="FFFFFF"/>
                </a:solidFill>
              </a:rPr>
              <a:t>• Centralizar vehículos, reservas, ventas y pagos.</a:t>
            </a:r>
          </a:p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2100" b="0">
                <a:solidFill>
                  <a:srgbClr val="FFFFFF"/>
                </a:solidFill>
              </a:rPr>
              <a:t>• Automatizar consultas y controles con PL/SQL.</a:t>
            </a:r>
          </a:p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2100" b="0">
                <a:solidFill>
                  <a:srgbClr val="FFFFFF"/>
                </a:solidFill>
              </a:rPr>
              <a:t>• Facilitar el seguimiento de saldos y reportes.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A46A60-969D-45E8-8318-0A747542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160520"/>
            <a:ext cx="10149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1900" b="1">
                <a:solidFill>
                  <a:srgbClr val="5FCDE2"/>
                </a:solidFill>
              </a:rPr>
              <a:t>MEJORA FUTURA: Interfaz web y alertas de cuotas vencidas.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9DA90D-E0F4-4285-9C66-FB827095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669280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300"/>
              </a:spcAft>
              <a:buNone/>
            </a:pPr>
            <a:r>
              <a:rPr sz="2300" b="1">
                <a:solidFill>
                  <a:srgbClr val="FFFFFF"/>
                </a:solidFill>
              </a:rPr>
              <a:t>Muchas gracias. ¿Preguntas?</a:t>
            </a:r>
          </a:p>
        </p:txBody>
      </p:sp>
    </p:spTree>
    <p:extLst>
      <p:ext uri="{BB962C8B-B14F-4D97-AF65-F5344CB8AC3E}">
        <p14:creationId xmlns:p14="http://schemas.microsoft.com/office/powerpoint/2010/main" val="931723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49F09-5984-4512-92F0-59EF1932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1. Selección del vehículo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36666-2CB8-46FD-9F0B-EE183D79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Código del proyecto y consulta de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B4B26-E552-4C23-8D1D-F1422DBF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id_vehiculo, marca, modelo,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   precio, estado, id_sucursal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FROM vehiculos_automotora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ORDER BY id_vehiculo;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2D583-774A-4C31-BC36-CDDFB10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Resultado real capturado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B05B-0D52-4B0A-889C-051FE286F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ab9c2d8994a4e"/>
          <a:stretch xmlns:a="http://schemas.openxmlformats.org/drawingml/2006/main"/>
        </p:blipFill>
        <p:spPr>
          <a:xfrm xmlns:a="http://schemas.openxmlformats.org/drawingml/2006/main">
            <a:off x="7143750" y="2583012"/>
            <a:ext cx="4524375" cy="12633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7258-6DB8-45E2-A271-913DFF6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4 vehículos DISPONIBLES.</a:t>
            </a:r>
          </a:p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Toyota Corolla: $15.000.000.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88CD5-8EBB-49BD-9039-CB4BBD89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La captura muestra el inventario antes de registrar la venta.</a:t>
            </a:r>
          </a:p>
        </p:txBody>
      </p:sp>
    </p:spTree>
    <p:extLst>
      <p:ext uri="{BB962C8B-B14F-4D97-AF65-F5344CB8AC3E}">
        <p14:creationId xmlns:p14="http://schemas.microsoft.com/office/powerpoint/2010/main" val="96334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BE4EE-3869-49EA-B0CC-8F1A28C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2. Reserva opcional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F77C5-D705-4158-9C92-E5A118FA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Código del proyecto y consulta de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43175-F449-45DE-8D9B-51F5F84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DECLARE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v_reserva NUMBER;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BEGIN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pkg_automotora.reservar_vehiculo(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1, 1, 3, v_reserva);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DBMS_OUTPUT.PUT_LINE(v_reserva);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END;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/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id_reserva, id_cliente, estado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FROM reservas_automotora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WHERE id_vehiculo = 1;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id_vehiculo, estado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FROM vehiculos_automotora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WHERE id_vehiculo = 1;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5B722-E443-4311-A512-0586171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Resultado esperado · falta captura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D28E-D8F7-4301-9405-8FFD13AB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Reserva ACTIVA para el cliente 1.</a:t>
            </a:r>
          </a:p>
          <a:p xmlns:a="http://schemas.openxmlformats.org/drawingml/2006/main">
            <a: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Vehículo 1 en estado RESERVADO.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Requiere que el vehículo esté disponible.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6F23B-5D6D-4D4D-AE90-0FF34D5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rPr>
              <a:t>Ejecutar el código y añadir la captura de SQL Developer.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376E0-F323-405C-B28C-1881951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La reserva es opcional. Este paso debe capturarse antes de vender el vehículo.</a:t>
            </a:r>
          </a:p>
        </p:txBody>
      </p:sp>
    </p:spTree>
    <p:extLst>
      <p:ext uri="{BB962C8B-B14F-4D97-AF65-F5344CB8AC3E}">
        <p14:creationId xmlns:p14="http://schemas.microsoft.com/office/powerpoint/2010/main" val="17866621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BEA19-FF48-43CF-9A4E-8A16C80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3. Validación y registro de la venta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A87A1-09F4-4669-8711-C049262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Código del proyecto y consulta de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4FE9F-9D30-49BC-B10C-A831AA5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SET SERVEROUTPUT ON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DECLARE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v_venta NUMBER;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BEGIN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pkg_automotora.registrar_venta(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p_id_cliente =&gt; 1,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p_id_vehiculo =&gt; 1,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p_id_vendedor =&gt; 1,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p_modalidad =&gt; 'CREDITO',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p_descuento =&gt; 0,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p_pie =&gt; 3000000,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p_num_cuotas =&gt; 12,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p_medio_pago =&gt; 'TRANSFERENCIA',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p_id_venta =&gt; v_venta);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DBMS_OUTPUT.PUT_LINE(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'Venta registrada: ' || v_venta);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END;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7D371-73AA-44E7-A2DD-45B4DAC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Resultado real capturado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906CF-0C9A-40F9-9856-89247C7EA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45fa2f6d147eb"/>
          <a:stretch xmlns:a="http://schemas.openxmlformats.org/drawingml/2006/main"/>
        </p:blipFill>
        <p:spPr>
          <a:xfrm xmlns:a="http://schemas.openxmlformats.org/drawingml/2006/main">
            <a:off x="7143750" y="2839848"/>
            <a:ext cx="4524375" cy="7496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14E18-E8D8-4D32-93DF-14DD0B36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Venta registrada: 23.</a:t>
            </a:r>
          </a:p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Saldo inicial: $12.000.000.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03345-109A-4BAE-97CB-5D66755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El package valida cliente, disponibilidad, reserva y vendedor. El ID 23 corresponde a la captura.</a:t>
            </a:r>
          </a:p>
        </p:txBody>
      </p:sp>
    </p:spTree>
    <p:extLst>
      <p:ext uri="{BB962C8B-B14F-4D97-AF65-F5344CB8AC3E}">
        <p14:creationId xmlns:p14="http://schemas.microsoft.com/office/powerpoint/2010/main" val="3116533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646E6-B127-439D-B1DB-9CE7D4C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4. Pago inicial y generación de cuotas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BB8B7-82A5-4819-AE8A-3BDFC57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Código del proyecto y consulta de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BF022-CBF0-4CAA-A170-C3584023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id_venta, total, pie,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   numero_cuotas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FROM ventas_vehiculos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WHERE id_venta = 23;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id_cuota, numero, monto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FROM cuotas_automotora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WHERE id_venta = 23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ORDER BY numero;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DC287-9387-464B-82EC-1316D42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Resultado real capturado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7AAFE-9C2D-4332-9D3F-7247F6AFA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b747a0c0d424f"/>
          <a:stretch xmlns:a="http://schemas.openxmlformats.org/drawingml/2006/main"/>
        </p:blipFill>
        <p:spPr>
          <a:xfrm xmlns:a="http://schemas.openxmlformats.org/drawingml/2006/main">
            <a:off x="7508773" y="1952625"/>
            <a:ext cx="3794330" cy="2524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05BE4-88E2-4003-8C9B-5095FD9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12 cuotas de $1.000.000.</a:t>
            </a:r>
          </a:p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Pie: $3.000.000 sobre $15.000.000.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B2AD0-32DA-4E3A-AA7F-20904DAB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Las cuotas se generan dentro de registrar_venta. Use el ID devuelto en su ejecución.</a:t>
            </a:r>
          </a:p>
        </p:txBody>
      </p:sp>
    </p:spTree>
    <p:extLst>
      <p:ext uri="{BB962C8B-B14F-4D97-AF65-F5344CB8AC3E}">
        <p14:creationId xmlns:p14="http://schemas.microsoft.com/office/powerpoint/2010/main" val="7458305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42208-3AEC-41CE-9079-F989FF0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5. Estado del vehículo y auditoría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F1E18-381E-4080-AE7E-2862AD8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Código del proyecto y consulta de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43911-2132-4075-A4E3-B141E77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-- Fragmento del trigger de estado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IF :OLD.estado &lt;&gt; :NEW.estado THEN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INSERT INTO auditoria_automotora (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tabla, operacion, nivel,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id_registro, detalle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) VALUES (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'VEHICULOS_AUTOMOTORA', 'UPDATE',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'FILA', :NEW.id_vehiculo,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'Estado anterior: ' || :OLD.estado ||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' | Estado nuevo: ' || :NEW.estado);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END IF;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estado FROM vehiculos_automotora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WHERE id_vehiculo = 1;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detalle FROM auditoria_automotora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WHERE tabla = 'VEHICULOS_AUTOMOTORA'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AND id_registro = 1;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DC0A2-3A76-4517-923D-78A10FC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Resultado esperado · falta captura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65233-7A96-4012-9C30-6BE5EE9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Vehículo en estado VENDIDO.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Auditoría con el estado anterior y el estado nuevo.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Con reserva previa: RESERVADO a VENDIDO.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83097-8E99-4598-9572-E8E2585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8A5C17"/>
                </a:solidFill>
                <a:latin typeface="DejaVu Sans"/>
                <a:ea typeface="DejaVu Sans"/>
                <a:cs typeface="DejaVu Sans"/>
              </a:rPr>
              <a:t>Ejecutar el código y añadir la captura de SQL Developer.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09FDE-15DF-43AE-AF39-DC6EE43F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El trigger trg_auto_estado_vehiculo actúa automáticamente al cambiar el estado.</a:t>
            </a:r>
          </a:p>
        </p:txBody>
      </p:sp>
    </p:spTree>
    <p:extLst>
      <p:ext uri="{BB962C8B-B14F-4D97-AF65-F5344CB8AC3E}">
        <p14:creationId xmlns:p14="http://schemas.microsoft.com/office/powerpoint/2010/main" val="7126594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447F2-FA5B-4F11-8BB9-7B06951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C41"/>
                </a:solidFill>
                <a:latin typeface="DejaVu Sans"/>
                <a:ea typeface="DejaVu Sans"/>
                <a:cs typeface="DejaVu Sans"/>
              </a:rPr>
              <a:t>6. Abono y seguimiento del saldo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A3BAE-8E35-44E4-9DB8-6072CFF5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Código del proyecto y consulta de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830BB-1293-4402-A3F1-11A34F1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286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BEGIN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pkg_automotora.registrar_pago(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p_id_cuota =&gt; 53,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p_monto =&gt; 500000,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p_medio =&gt; 'TRANSFERENCIA');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END;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/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SELECT fn_saldo_automotora(23)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       AS saldo_pendiente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FROM dual;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EXEC sp_resumen_sucursales;</a:t>
            </a:r>
          </a:p>
          <a:p xmlns:a="http://schemas.openxmlformats.org/drawingml/2006/main">
            <a:pPr>
              <a:def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02C41"/>
                </a:solidFill>
                <a:latin typeface="DejaVu Sans Mono"/>
                <a:ea typeface="DejaVu Sans Mono"/>
                <a:cs typeface="DejaVu Sans Mono"/>
              </a:rPr>
              <a:t>EXEC sp_deuda_cliente(1);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51CBA-5696-4432-BBA5-24349BFB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C83"/>
                </a:solidFill>
                <a:latin typeface="DejaVu Sans"/>
                <a:ea typeface="DejaVu Sans"/>
                <a:cs typeface="DejaVu Sans"/>
              </a:rPr>
              <a:t>Resultado real capturado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E65E2-EF8E-4E1A-B9CD-22EC8ADBC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84000c93642bc"/>
          <a:stretch xmlns:a="http://schemas.openxmlformats.org/drawingml/2006/main"/>
        </p:blipFill>
        <p:spPr>
          <a:xfrm xmlns:a="http://schemas.openxmlformats.org/drawingml/2006/main">
            <a:off x="7143750" y="2864664"/>
            <a:ext cx="4524375" cy="7000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772D0-C238-4A73-94AB-E4434571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Abono registrado: $500.000.</a:t>
            </a:r>
          </a:p>
          <a:p xmlns:a="http://schemas.openxmlformats.org/drawingml/2006/main">
            <a:pPr>
              <a:def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33A4B"/>
                </a:solidFill>
                <a:latin typeface="DejaVu Sans"/>
                <a:ea typeface="DejaVu Sans"/>
                <a:cs typeface="DejaVu Sans"/>
              </a:rPr>
              <a:t>Nuevo saldo: $11.500.000.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218DD-59BB-451F-9841-684897A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5"/>
                </a:solidFill>
                <a:latin typeface="DejaVu Sans"/>
                <a:ea typeface="DejaVu Sans"/>
                <a:cs typeface="DejaVu Sans"/>
              </a:rPr>
              <a:t>La captura verifica el abono y el saldo. Los dos reportes requieren su propia captura si se presentan.</a:t>
            </a:r>
          </a:p>
        </p:txBody>
      </p:sp>
    </p:spTree>
    <p:extLst>
      <p:ext uri="{BB962C8B-B14F-4D97-AF65-F5344CB8AC3E}">
        <p14:creationId xmlns:p14="http://schemas.microsoft.com/office/powerpoint/2010/main" val="9906661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2026-11-01T14:35:32.3070000Z</dcterms:created>
  <dcterms:modified xsi:type="dcterms:W3CDTF">2026-11-01T14:35:32.3070000Z</dcterms:modified>
</coreProperties>
</file>